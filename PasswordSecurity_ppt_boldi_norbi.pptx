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0D38B7-19E1-B82A-0519-856751E837DD}" v="106" dt="2026-02-23T08:02:13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8425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6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83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76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410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49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54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533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557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320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513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0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>
                <a:ea typeface="+mj-lt"/>
                <a:cs typeface="+mj-lt"/>
              </a:rPr>
              <a:t>Interaktív jelszóerősség-ellenőrző fejlesztése Android alkalmazásban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b="1">
                <a:ea typeface="+mn-lt"/>
                <a:cs typeface="+mn-lt"/>
              </a:rPr>
              <a:t>Prezentálók:</a:t>
            </a:r>
            <a:r>
              <a:rPr lang="hu-HU">
                <a:ea typeface="+mn-lt"/>
                <a:cs typeface="+mn-lt"/>
              </a:rPr>
              <a:t> Kadlicskó Boldizsár,Bogdán Norbert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2B3363-4F08-12FE-A68D-FFA768806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ea typeface="+mj-lt"/>
                <a:cs typeface="+mj-lt"/>
              </a:rPr>
              <a:t> Miért kritikus a jelszóbiztonság?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F03DD4-3643-EF60-3EAC-9CFF90709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ea typeface="+mn-lt"/>
                <a:cs typeface="+mn-lt"/>
              </a:rPr>
              <a:t>A gyenge jelszavak a feltörések 80%-áért felelősek (brute force, szótár alapú támadások).</a:t>
            </a:r>
            <a:endParaRPr lang="hu-HU"/>
          </a:p>
          <a:p>
            <a:r>
              <a:rPr lang="hu-HU">
                <a:ea typeface="+mn-lt"/>
                <a:cs typeface="+mn-lt"/>
              </a:rPr>
              <a:t>A felhasználók hajlamosak egyszerű, könnyen megjegyezhető szavakat használni.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Cél:</a:t>
            </a:r>
            <a:r>
              <a:rPr lang="hu-HU">
                <a:ea typeface="+mn-lt"/>
                <a:cs typeface="+mn-lt"/>
              </a:rPr>
              <a:t> Olyan alkalmazás, amely vizuálisan tanítja a felhasználót a biztonságosabb jelszóválasztásra.</a:t>
            </a:r>
            <a:endParaRPr lang="hu-HU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4C93525-44DD-8DAE-B680-1ADE976A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5DBD3-3016-4385-B904-7FEA02A28FE4}" type="datetime1">
              <a:t>2/22/2026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759EE25-44EE-83E8-8B03-2E001A730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1D97F03-C5BD-67F3-A846-6BFA8A6A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171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9BF7F0-7655-5C65-E4D1-171A6CC6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ea typeface="+mj-lt"/>
                <a:cs typeface="+mj-lt"/>
              </a:rPr>
              <a:t>Alkalmazás architektúra és eszközök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3374CC-1C04-62CF-5150-1A0229D74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b="1">
                <a:ea typeface="+mn-lt"/>
                <a:cs typeface="+mn-lt"/>
              </a:rPr>
              <a:t>Technológiai struktúra: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Android SDK:</a:t>
            </a:r>
            <a:r>
              <a:rPr lang="hu-HU">
                <a:ea typeface="+mn-lt"/>
                <a:cs typeface="+mn-lt"/>
              </a:rPr>
              <a:t> A natív fejlesztés előnyei (sebesség, közvetlen UI elérés).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Java:</a:t>
            </a:r>
            <a:r>
              <a:rPr lang="hu-HU">
                <a:ea typeface="+mn-lt"/>
                <a:cs typeface="+mn-lt"/>
              </a:rPr>
              <a:t> Objektumorientált megközelítés az eseménykezeléshez.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XML Layout:</a:t>
            </a:r>
            <a:r>
              <a:rPr lang="hu-HU">
                <a:ea typeface="+mn-lt"/>
                <a:cs typeface="+mn-lt"/>
              </a:rPr>
              <a:t> Deklaratív felületkezelés a rugalmas megjelenítésért.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Fő osztály: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>
                <a:latin typeface="Consolas"/>
              </a:rPr>
              <a:t>MainActivity.java</a:t>
            </a:r>
            <a:r>
              <a:rPr lang="hu-HU">
                <a:ea typeface="+mn-lt"/>
                <a:cs typeface="+mn-lt"/>
              </a:rPr>
              <a:t> – itt összpontosul a vezérlési logika.</a:t>
            </a:r>
            <a:endParaRPr lang="hu-HU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1C9741E-8738-7294-2910-E9976118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16FC4-7685-4F31-95A8-7080F6163159}" type="datetime1">
              <a:t>2/22/2026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03DE414-E955-45EB-066C-4F7365F5B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1F6EDF3-87EC-026B-34CD-A2EE38130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23029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2B788A-D623-7439-A5AD-E8061AAF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ea typeface="+mj-lt"/>
                <a:cs typeface="+mj-lt"/>
              </a:rPr>
              <a:t>Az eseményvezérelt programozás (TextWatcher)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E814AB2-A41D-B88A-22F3-2CAFD0012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b="1">
                <a:ea typeface="+mn-lt"/>
                <a:cs typeface="+mn-lt"/>
              </a:rPr>
              <a:t>A mechanizmus:</a:t>
            </a:r>
            <a:endParaRPr lang="hu-HU"/>
          </a:p>
          <a:p>
            <a:r>
              <a:rPr lang="hu-HU">
                <a:ea typeface="+mn-lt"/>
                <a:cs typeface="+mn-lt"/>
              </a:rPr>
              <a:t>A kód nem egy gombnyomásra vár, hanem folyamatosan "figyel".</a:t>
            </a:r>
            <a:endParaRPr lang="hu-HU"/>
          </a:p>
          <a:p>
            <a:r>
              <a:rPr lang="hu-HU">
                <a:latin typeface="Consolas"/>
              </a:rPr>
              <a:t>onTextChanged</a:t>
            </a:r>
            <a:r>
              <a:rPr lang="hu-HU">
                <a:ea typeface="+mn-lt"/>
                <a:cs typeface="+mn-lt"/>
              </a:rPr>
              <a:t> metódus: Minden egyes leütött karakter után újraszámolja a pontszámot.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Előnye:</a:t>
            </a:r>
            <a:r>
              <a:rPr lang="hu-HU">
                <a:ea typeface="+mn-lt"/>
                <a:cs typeface="+mn-lt"/>
              </a:rPr>
              <a:t> Azonnali visszacsatolás (Immediate Feedback Loop), ami javítja a felhasználói élményt.</a:t>
            </a:r>
            <a:endParaRPr lang="hu-HU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DFBFF7-95D3-343B-B071-CA3BB4B5D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072EA-AD5F-4694-A93A-A0867BCB5B75}" type="datetime1">
              <a:t>2/22/2026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FDDFB5C-3F81-D6C0-3363-0657164AF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F2DA3F5-5A16-BE10-11D4-E905DD347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464152"/>
      </p:ext>
    </p:extLst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2FC0372-ED96-F7D2-0C2B-9AF0656A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ea typeface="+mj-lt"/>
                <a:cs typeface="+mj-lt"/>
              </a:rPr>
              <a:t>A pontozási algoritmus részletei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10C6F1-DFFA-5D84-7611-24CB4A379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b="1">
                <a:ea typeface="+mn-lt"/>
                <a:cs typeface="+mn-lt"/>
              </a:rPr>
              <a:t>UI/UX Megoldások:</a:t>
            </a:r>
            <a:endParaRPr lang="hu-HU"/>
          </a:p>
          <a:p>
            <a:r>
              <a:rPr lang="hu-HU">
                <a:ea typeface="+mn-lt"/>
                <a:cs typeface="+mn-lt"/>
              </a:rPr>
              <a:t>A </a:t>
            </a:r>
            <a:r>
              <a:rPr lang="hu-HU">
                <a:latin typeface="Consolas"/>
              </a:rPr>
              <a:t>ProgressBar</a:t>
            </a:r>
            <a:r>
              <a:rPr lang="hu-HU">
                <a:ea typeface="+mn-lt"/>
                <a:cs typeface="+mn-lt"/>
              </a:rPr>
              <a:t> nem csak egy csúszka, hanem állapotjelző.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Színkódolás pszichológiája:</a:t>
            </a:r>
            <a:r>
              <a:rPr lang="hu-HU">
                <a:ea typeface="+mn-lt"/>
                <a:cs typeface="+mn-lt"/>
              </a:rPr>
              <a:t> * Vörös (Veszély/Gyenge)</a:t>
            </a:r>
            <a:endParaRPr lang="hu-HU"/>
          </a:p>
          <a:p>
            <a:pPr lvl="1"/>
            <a:r>
              <a:rPr lang="hu-HU" b="0">
                <a:ea typeface="+mn-lt"/>
                <a:cs typeface="+mn-lt"/>
              </a:rPr>
              <a:t>Narancs (Figyelem/Közepes)</a:t>
            </a:r>
            <a:endParaRPr lang="hu-HU"/>
          </a:p>
          <a:p>
            <a:pPr lvl="1"/>
            <a:r>
              <a:rPr lang="hu-HU" b="0">
                <a:ea typeface="+mn-lt"/>
                <a:cs typeface="+mn-lt"/>
              </a:rPr>
              <a:t>Zöld (Biztonság/Erős)</a:t>
            </a:r>
            <a:endParaRPr lang="hu-HU"/>
          </a:p>
          <a:p>
            <a:r>
              <a:rPr lang="hu-HU">
                <a:latin typeface="Consolas"/>
              </a:rPr>
              <a:t>setProgressTintList</a:t>
            </a:r>
            <a:r>
              <a:rPr lang="hu-HU">
                <a:ea typeface="+mn-lt"/>
                <a:cs typeface="+mn-lt"/>
              </a:rPr>
              <a:t>: Programozott színváltás a pontszám küszöbértékei alapján.</a:t>
            </a:r>
            <a:endParaRPr lang="hu-HU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5CC080-6E13-40A2-0AE7-AF7D8CE0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D7E4C-D8BA-47AE-A056-D587E1D3B2C8}" type="datetime1">
              <a:t>2/22/2026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1CDA1CA-45BE-D253-B5E8-9737BC58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ABCBF5D-61E6-14EC-005F-49780DC8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66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5857A6-315D-066E-70D7-54616EC0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ea typeface="+mj-lt"/>
                <a:cs typeface="+mj-lt"/>
              </a:rPr>
              <a:t>Kétlépcsős validáció (Confirm Password)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422316-D37A-48B6-B241-4F46B0FCC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b="1">
                <a:ea typeface="+mn-lt"/>
                <a:cs typeface="+mn-lt"/>
              </a:rPr>
              <a:t>Logikai feltétel:</a:t>
            </a:r>
            <a:endParaRPr lang="hu-HU"/>
          </a:p>
          <a:p>
            <a:r>
              <a:rPr lang="hu-HU">
                <a:ea typeface="+mn-lt"/>
                <a:cs typeface="+mn-lt"/>
              </a:rPr>
              <a:t>A regisztrációs folyamatok leggyakoribb hibája az elgépelés.</a:t>
            </a:r>
            <a:endParaRPr lang="hu-HU"/>
          </a:p>
          <a:p>
            <a:r>
              <a:rPr lang="hu-HU">
                <a:ea typeface="+mn-lt"/>
                <a:cs typeface="+mn-lt"/>
              </a:rPr>
              <a:t>A </a:t>
            </a:r>
            <a:r>
              <a:rPr lang="hu-HU">
                <a:latin typeface="Consolas"/>
              </a:rPr>
              <a:t>checkPasswordMatch()</a:t>
            </a:r>
            <a:r>
              <a:rPr lang="hu-HU">
                <a:ea typeface="+mn-lt"/>
                <a:cs typeface="+mn-lt"/>
              </a:rPr>
              <a:t> funkció összehasonlítja a </a:t>
            </a:r>
            <a:r>
              <a:rPr lang="hu-HU">
                <a:latin typeface="Consolas"/>
              </a:rPr>
              <a:t>passwordInput</a:t>
            </a:r>
            <a:r>
              <a:rPr lang="hu-HU">
                <a:ea typeface="+mn-lt"/>
                <a:cs typeface="+mn-lt"/>
              </a:rPr>
              <a:t> és </a:t>
            </a:r>
            <a:r>
              <a:rPr lang="hu-HU">
                <a:latin typeface="Consolas"/>
              </a:rPr>
              <a:t>confirmInput</a:t>
            </a:r>
            <a:r>
              <a:rPr lang="hu-HU" dirty="0">
                <a:ea typeface="+mn-lt"/>
                <a:cs typeface="+mn-lt"/>
              </a:rPr>
              <a:t> </a:t>
            </a:r>
            <a:r>
              <a:rPr lang="hu-HU">
                <a:ea typeface="+mn-lt"/>
                <a:cs typeface="+mn-lt"/>
              </a:rPr>
              <a:t>stringeket.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Hiba jelzése:</a:t>
            </a:r>
            <a:r>
              <a:rPr lang="hu-HU">
                <a:ea typeface="+mn-lt"/>
                <a:cs typeface="+mn-lt"/>
              </a:rPr>
              <a:t> Az Android beépített </a:t>
            </a:r>
            <a:r>
              <a:rPr lang="hu-HU">
                <a:latin typeface="Consolas"/>
              </a:rPr>
              <a:t>setError()</a:t>
            </a:r>
            <a:r>
              <a:rPr lang="hu-HU">
                <a:ea typeface="+mn-lt"/>
                <a:cs typeface="+mn-lt"/>
              </a:rPr>
              <a:t> funkciója vizuális buborékkal jelzi a hibát a beviteli mezőben.</a:t>
            </a:r>
            <a:endParaRPr lang="hu-HU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F358A00-EFFD-61B4-7F7D-E5142297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D717-A70F-4EF6-A9B4-2463244C6110}" type="datetime1">
              <a:t>2/22/2026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16511C8-1B47-C8EC-D2B0-9766BEE46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ED9C608-44AF-535F-FD61-7C6767C8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9163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EFB6990-D305-603F-8811-CE7F4467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ea typeface="+mj-lt"/>
                <a:cs typeface="+mj-lt"/>
              </a:rPr>
              <a:t>Forráskód elemzés - A kritikus részlet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A1734ED-CA5E-7818-DA0E-B726B5F54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b="1">
                <a:ea typeface="+mn-lt"/>
                <a:cs typeface="+mn-lt"/>
              </a:rPr>
              <a:t>Kódmagyarázat:</a:t>
            </a:r>
            <a:endParaRPr lang="hu-HU"/>
          </a:p>
          <a:p>
            <a:r>
              <a:rPr lang="hu-HU">
                <a:ea typeface="+mn-lt"/>
                <a:cs typeface="+mn-lt"/>
              </a:rPr>
              <a:t>Hogyan használjuk a </a:t>
            </a:r>
            <a:r>
              <a:rPr lang="hu-HU">
                <a:latin typeface="Consolas"/>
              </a:rPr>
              <a:t>matches()</a:t>
            </a:r>
            <a:r>
              <a:rPr lang="hu-HU">
                <a:ea typeface="+mn-lt"/>
                <a:cs typeface="+mn-lt"/>
              </a:rPr>
              <a:t> metódust és a Reguláris Kifejezéseket (Regex).</a:t>
            </a:r>
            <a:endParaRPr lang="hu-HU"/>
          </a:p>
          <a:p>
            <a:r>
              <a:rPr lang="hu-HU">
                <a:ea typeface="+mn-lt"/>
                <a:cs typeface="+mn-lt"/>
              </a:rPr>
              <a:t>Példa: </a:t>
            </a:r>
            <a:r>
              <a:rPr lang="hu-HU">
                <a:latin typeface="Consolas"/>
              </a:rPr>
              <a:t>.*[A-Z].*</a:t>
            </a:r>
            <a:r>
              <a:rPr lang="hu-HU">
                <a:ea typeface="+mn-lt"/>
                <a:cs typeface="+mn-lt"/>
              </a:rPr>
              <a:t> – Ez a kifejezés bármilyen szövegben megkeresi, van-e legalább egy nagybetű.</a:t>
            </a:r>
            <a:endParaRPr lang="hu-HU"/>
          </a:p>
          <a:p>
            <a:r>
              <a:rPr lang="hu-HU">
                <a:ea typeface="+mn-lt"/>
                <a:cs typeface="+mn-lt"/>
              </a:rPr>
              <a:t>Az if-else elágazások sorrendisége és a pontszámok halmozódása.</a:t>
            </a:r>
            <a:endParaRPr lang="hu-HU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13368FC-7635-4F41-F271-C3EECAE61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6FDD-A6DE-45F9-A548-4842FFF743E1}" type="datetime1">
              <a:t>2/22/2026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E6B74E7-759D-16D4-337F-36A38078E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876C646-EC33-526A-4917-F2FBCDA06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393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A1B421-94E7-22F5-C8BF-C6307070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ea typeface="+mj-lt"/>
                <a:cs typeface="+mj-lt"/>
              </a:rPr>
              <a:t>Biztonsági javaslatok a jövőre nézve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661E14-328E-39FA-2187-2817B47D9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b="1">
                <a:ea typeface="+mn-lt"/>
                <a:cs typeface="+mn-lt"/>
              </a:rPr>
              <a:t>Hogyan lehetne még profibb?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Lejárati idő:</a:t>
            </a:r>
            <a:r>
              <a:rPr lang="hu-HU">
                <a:ea typeface="+mn-lt"/>
                <a:cs typeface="+mn-lt"/>
              </a:rPr>
              <a:t> Kényszerített jelszócsere implementálása.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Hashing:</a:t>
            </a:r>
            <a:r>
              <a:rPr lang="hu-HU">
                <a:ea typeface="+mn-lt"/>
                <a:cs typeface="+mn-lt"/>
              </a:rPr>
              <a:t> A jelszavakat sosem plain textként, hanem titkosítva (pl. BCrypt, SHA-256) kell tárolni az adatbázisban.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Complexity API:</a:t>
            </a:r>
            <a:r>
              <a:rPr lang="hu-HU">
                <a:ea typeface="+mn-lt"/>
                <a:cs typeface="+mn-lt"/>
              </a:rPr>
              <a:t> Külső könyvtárak (pl. Google </a:t>
            </a:r>
            <a:r>
              <a:rPr lang="hu-HU">
                <a:latin typeface="Consolas"/>
              </a:rPr>
              <a:t>autofill</a:t>
            </a:r>
            <a:r>
              <a:rPr lang="hu-HU">
                <a:ea typeface="+mn-lt"/>
                <a:cs typeface="+mn-lt"/>
              </a:rPr>
              <a:t>) használata.</a:t>
            </a:r>
            <a:endParaRPr lang="hu-HU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E073C18-E902-156D-AEEF-1C0D49701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3636E-BEBF-468D-BF71-9E60497FB5A8}" type="datetime1">
              <a:t>2/22/2026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7D43175-FF6C-D0BA-08DD-476004043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45959F8-9B1B-533B-E766-84B44193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71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0081C0-FD12-76AF-C3F3-DF1C8B43C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0">
                <a:ea typeface="+mj-lt"/>
                <a:cs typeface="+mj-lt"/>
              </a:rPr>
              <a:t>Összegzés és konklúzió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D148DB6-3A74-49ED-E467-3CC8DACE6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 b="1">
                <a:ea typeface="+mn-lt"/>
                <a:cs typeface="+mn-lt"/>
              </a:rPr>
              <a:t>Záró gondolatok:</a:t>
            </a:r>
            <a:endParaRPr lang="hu-HU"/>
          </a:p>
          <a:p>
            <a:r>
              <a:rPr lang="hu-HU">
                <a:ea typeface="+mn-lt"/>
                <a:cs typeface="+mn-lt"/>
              </a:rPr>
              <a:t>Egy egyszerű jelszóerősség-mérő jelentősen csökkenti a fiókfeltörések esélyét.</a:t>
            </a:r>
            <a:endParaRPr lang="hu-HU"/>
          </a:p>
          <a:p>
            <a:r>
              <a:rPr lang="hu-HU">
                <a:ea typeface="+mn-lt"/>
                <a:cs typeface="+mn-lt"/>
              </a:rPr>
              <a:t>A fejlesztő felelőssége a felhasználót a biztonság felé terelni.</a:t>
            </a:r>
            <a:endParaRPr lang="hu-HU"/>
          </a:p>
          <a:p>
            <a:r>
              <a:rPr lang="hu-HU" b="1">
                <a:ea typeface="+mn-lt"/>
                <a:cs typeface="+mn-lt"/>
              </a:rPr>
              <a:t>Kérdések:</a:t>
            </a:r>
            <a:r>
              <a:rPr lang="hu-HU">
                <a:ea typeface="+mn-lt"/>
                <a:cs typeface="+mn-lt"/>
              </a:rPr>
              <a:t> Szívesen válaszolok a kóddal vagy a megvalósítással kapcsolatban.</a:t>
            </a:r>
            <a:endParaRPr lang="hu-HU"/>
          </a:p>
          <a:p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CC5E434-A98A-2BA1-32BA-38B802D6B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AA34E-26F8-4895-BA35-2C8B4CDA85CD}" type="datetime1">
              <a:t>2/22/2026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C78FDAD-5FD7-6585-CC3D-FD626B6F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4BA0A8B-43A1-70E8-2B6D-0F8F350B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307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175849-FE18-008D-194A-8D6AB37AB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07DF6D-DCE3-FDF4-79E9-39425E306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hu-HU"/>
          </a:p>
          <a:p>
            <a:endParaRPr lang="hu-HU" dirty="0"/>
          </a:p>
          <a:p>
            <a:r>
              <a:rPr lang="hu-HU" sz="2600" cap="all">
                <a:latin typeface="Trade Gothic Next Cond"/>
              </a:rPr>
              <a:t>        </a:t>
            </a:r>
            <a:r>
              <a:rPr lang="hu-HU" sz="2600" b="1" cap="all">
                <a:latin typeface="Trade Gothic Next Cond"/>
              </a:rPr>
              <a:t>Köszönjük a figyelmet</a:t>
            </a:r>
            <a:endParaRPr lang="hu-HU" sz="2600" b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4436753-73F2-4FAB-2262-7FBDD5A5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341BF-8616-4E70-8DDA-822E355C4481}" type="datetime1">
              <a:t>2/22/2026</a:t>
            </a:fld>
            <a:endParaRPr lang="en-US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C5CE4F2-1D40-47C4-9B8F-CD904B6B1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E5BAE1-31B3-8AA5-E728-5006EFE9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3728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10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1" baseType="lpstr">
      <vt:lpstr>PortalVTI</vt:lpstr>
      <vt:lpstr>Interaktív jelszóerősség-ellenőrző fejlesztése Android alkalmazásban</vt:lpstr>
      <vt:lpstr> Miért kritikus a jelszóbiztonság?</vt:lpstr>
      <vt:lpstr>Alkalmazás architektúra és eszközök</vt:lpstr>
      <vt:lpstr>Az eseményvezérelt programozás (TextWatcher)</vt:lpstr>
      <vt:lpstr>A pontozási algoritmus részletei</vt:lpstr>
      <vt:lpstr>Kétlépcsős validáció (Confirm Password)</vt:lpstr>
      <vt:lpstr>Forráskód elemzés - A kritikus részlet</vt:lpstr>
      <vt:lpstr>Biztonsági javaslatok a jövőre nézve</vt:lpstr>
      <vt:lpstr>Összegzés és konklúzió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created xsi:type="dcterms:W3CDTF">2026-02-23T07:37:42Z</dcterms:created>
  <dcterms:modified xsi:type="dcterms:W3CDTF">2026-02-23T08:03:52Z</dcterms:modified>
</cp:coreProperties>
</file>