
<file path=[Content_Types].xml><?xml version="1.0" encoding="utf-8"?>
<Types xmlns="http://schemas.openxmlformats.org/package/2006/content-types"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174B0B3-E7C2-6E5D-46DA-3ECD3360A4CA}" v="68" dt="2026-03-02T09:23:08.039"/>
    <p1510:client id="{8BED386F-DEF7-83FA-2781-3652540FB0DC}" v="40" dt="2026-03-02T09:30:54.66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75" autoAdjust="0"/>
    <p:restoredTop sz="94660"/>
  </p:normalViewPr>
  <p:slideViewPr>
    <p:cSldViewPr snapToGrid="0">
      <p:cViewPr varScale="1">
        <p:scale>
          <a:sx n="86" d="100"/>
          <a:sy n="86" d="100"/>
        </p:scale>
        <p:origin x="66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30F8CF-692C-4963-8B5E-D1C0928CF1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29612" y="1013984"/>
            <a:ext cx="7714388" cy="3260635"/>
          </a:xfrm>
        </p:spPr>
        <p:txBody>
          <a:bodyPr anchor="b"/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419655-1613-4CC0-BBE9-BD2CB2C3C7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29612" y="4848464"/>
            <a:ext cx="7714388" cy="1085849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267FFF-6BC4-4DF0-BC55-B2C3BFD8ED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70120-CDFC-48DE-A6EA-6DEEDD0E436A}" type="datetimeFigureOut">
              <a:rPr lang="en-US" dirty="0"/>
              <a:t>3/5/2026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389830-A1B7-484B-832C-F64A558BDF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A8F727-72C8-47A9-8E54-AD84590286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61CA-0502-4EE4-9724-96EA822543E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ED5540-64E5-4258-ABA4-753F07B71B38}"/>
              </a:ext>
            </a:extLst>
          </p:cNvPr>
          <p:cNvCxnSpPr>
            <a:cxnSpLocks/>
          </p:cNvCxnSpPr>
          <p:nvPr/>
        </p:nvCxnSpPr>
        <p:spPr>
          <a:xfrm>
            <a:off x="1524000" y="4571506"/>
            <a:ext cx="971155" cy="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84255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EF94C-BCB1-4F4C-AF70-DD2A5C4E33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29566" y="1045445"/>
            <a:ext cx="9238434" cy="857559"/>
          </a:xfrm>
        </p:spPr>
        <p:txBody>
          <a:bodyPr anchor="b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909B75-A057-44B5-872F-DF01BDC8EA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29566" y="2286000"/>
            <a:ext cx="9238434" cy="3810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06260C-3219-4812-88F2-3162D37F29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C9FAAF-C467-4C93-8ECD-39AF5A14D498}" type="datetimeFigureOut">
              <a:rPr lang="en-US" dirty="0"/>
              <a:t>3/5/2026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762B73-9C01-4BE3-A199-782BE6EBA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761492-EB56-4454-9D2A-8BB94AACB8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61CA-0502-4EE4-9724-96EA822543E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1617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980A128-A52A-402C-865B-1BF08D7F045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E900447-3778-4AB7-ACB3-7C2313FE9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21745" y="1287554"/>
            <a:ext cx="8284963" cy="3113064"/>
          </a:xfrm>
        </p:spPr>
        <p:txBody>
          <a:bodyPr anchor="t"/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B910C9-BA3C-4D31-9C62-2C2408591F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21744" y="4619707"/>
            <a:ext cx="7722256" cy="1476293"/>
          </a:xfrm>
        </p:spPr>
        <p:txBody>
          <a:bodyPr anchor="b">
            <a:normAutofit/>
          </a:bodyPr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742E8A-6B69-406B-A3DF-0A1B76832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7E480-B2BA-4553-A144-61E7F75833ED}" type="datetimeFigureOut">
              <a:rPr lang="en-US" dirty="0"/>
              <a:t>3/5/2026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D665CF-4461-4BB8-8F3A-ED1CB1084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898B27-5EF3-49F4-B3CE-F3CF419AE0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61CA-0502-4EE4-9724-96EA822543E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0834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3F3BA-5AD5-4F15-97B2-E4652D1D4E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29566" y="1013411"/>
            <a:ext cx="9238434" cy="88959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A997B8-1FD3-40E6-A486-256EB41DB7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429566" y="2135565"/>
            <a:ext cx="4495800" cy="396043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83F4D8-AA9A-4AF7-86EA-E4D797B98C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135565"/>
            <a:ext cx="4495800" cy="396043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08823E-BC08-4810-9BFF-35D2EA2AE7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E682A-6B53-4B08-AE4D-4C5E659103CC}" type="datetimeFigureOut">
              <a:rPr lang="en-US" dirty="0"/>
              <a:t>3/5/2026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DD2BFB-BB2C-4C4A-A6E1-DD223C2BE0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D369B2-12F8-4583-8A7F-523C9A3EF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61CA-0502-4EE4-9724-96EA822543E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38765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C717F-84B9-44BA-8DD6-680394AB19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29566" y="1079150"/>
            <a:ext cx="9238434" cy="82391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1217D6-7448-4625-964F-5D82F65F11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29567" y="2013217"/>
            <a:ext cx="4495799" cy="70423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1800" b="0" cap="all" spc="300" baseline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3A534C-0B54-4327-99C0-4F0019FD21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429567" y="3048000"/>
            <a:ext cx="4495800" cy="3048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89D4A63-0795-4B74-8C11-5FE7944118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013215"/>
            <a:ext cx="4495800" cy="70423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1800" b="0" cap="all" spc="300" baseline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23D16F3-F747-441B-9854-27225954DEC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3048000"/>
            <a:ext cx="4495800" cy="3048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E8168E2-6B97-486E-B0E4-4E7F5CDBB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9F0F6-BEBB-4894-ABB2-75C5CBE0DDB9}" type="datetimeFigureOut">
              <a:rPr lang="en-US" dirty="0"/>
              <a:t>3/5/2026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05D3E2B-2F4E-4347-A8E9-27EB7D0359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C1FC4F5-6876-414E-9E30-84706A3F5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61CA-0502-4EE4-9724-96EA822543E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70D2F04-5474-46B9-B838-858CDF4AB2D2}"/>
              </a:ext>
            </a:extLst>
          </p:cNvPr>
          <p:cNvCxnSpPr>
            <a:cxnSpLocks/>
          </p:cNvCxnSpPr>
          <p:nvPr/>
        </p:nvCxnSpPr>
        <p:spPr>
          <a:xfrm>
            <a:off x="6270727" y="2876662"/>
            <a:ext cx="971155" cy="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CADEE893-BE45-47F3-BCF0-02424B3503CC}"/>
              </a:ext>
            </a:extLst>
          </p:cNvPr>
          <p:cNvSpPr/>
          <p:nvPr/>
        </p:nvSpPr>
        <p:spPr>
          <a:xfrm>
            <a:off x="-1171838" y="4592406"/>
            <a:ext cx="808262" cy="38971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FB5178A-4501-4B56-8BF1-D083D7B021CE}"/>
              </a:ext>
            </a:extLst>
          </p:cNvPr>
          <p:cNvCxnSpPr>
            <a:cxnSpLocks/>
          </p:cNvCxnSpPr>
          <p:nvPr/>
        </p:nvCxnSpPr>
        <p:spPr>
          <a:xfrm>
            <a:off x="1524000" y="2876662"/>
            <a:ext cx="971155" cy="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44108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52109C6-041C-42BA-B507-8EA298046ED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F7BF877-20DD-40F4-AEA8-E1B6D5350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67DC874-15B5-4338-B7D1-8E393AB4C1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E9E5F-17D9-4A30-9DA3-64E46A6DF111}" type="datetimeFigureOut">
              <a:rPr lang="en-US" dirty="0"/>
              <a:t>3/5/2026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66BAE3-24C5-483F-9141-D860A265E7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9AEEB4-66F8-4008-B616-804FB9D91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61CA-0502-4EE4-9724-96EA822543E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84981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746C975-8FFB-4A4B-9213-774EE3901D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AC5F0-3BC3-4718-BCCA-24B5655EC864}" type="datetimeFigureOut">
              <a:rPr lang="en-US" dirty="0"/>
              <a:t>3/5/2026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BA744F-475D-4105-8E4A-025815549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3FA64C-7966-4D6F-88D7-4B89F2A1D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61CA-0502-4EE4-9724-96EA822543E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25543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D4ED5F-AB94-4DCF-8971-B8B2B55AF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3740" y="1558944"/>
            <a:ext cx="3279689" cy="1864196"/>
          </a:xfrm>
        </p:spPr>
        <p:txBody>
          <a:bodyPr anchor="b"/>
          <a:lstStyle>
            <a:lvl1pPr algn="r"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EE4CB-68CF-4BF3-A891-8277AFD13D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4000" y="762000"/>
            <a:ext cx="5333999" cy="5334000"/>
          </a:xfrm>
        </p:spPr>
        <p:txBody>
          <a:bodyPr anchor="ctr"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  <a:lvl2pPr>
              <a:defRPr sz="24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1800">
                <a:solidFill>
                  <a:schemeClr val="tx1"/>
                </a:solidFill>
              </a:defRPr>
            </a:lvl4pPr>
            <a:lvl5pPr>
              <a:defRPr sz="18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292E72-B66D-40EE-B182-5585382A6D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443741" y="3649682"/>
            <a:ext cx="3233096" cy="1933605"/>
          </a:xfrm>
        </p:spPr>
        <p:txBody>
          <a:bodyPr/>
          <a:lstStyle>
            <a:lvl1pPr marL="0" indent="0" algn="r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73B694-B050-45F3-AE6F-A86A129F1C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B8BD81-465B-40F2-9A54-9DF3B12AF598}" type="datetimeFigureOut">
              <a:rPr lang="en-US" dirty="0"/>
              <a:t>3/5/2026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8AE423-9CA5-46B3-96B1-7586AD0208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4B973D-F1F7-47BC-996D-6100B7C895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61CA-0502-4EE4-9724-96EA822543E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75330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AE9949-4A1F-4DA9-9B75-A6180F954B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3543" y="1383126"/>
            <a:ext cx="3289886" cy="2045874"/>
          </a:xfrm>
        </p:spPr>
        <p:txBody>
          <a:bodyPr anchor="b"/>
          <a:lstStyle>
            <a:lvl1pPr algn="r"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9A8D794-C670-4569-93D9-0FF8B35AA7AE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334001" y="762000"/>
            <a:ext cx="5333999" cy="5334000"/>
          </a:xfrm>
        </p:spPr>
        <p:txBody>
          <a:bodyPr anchor="t"/>
          <a:lstStyle>
            <a:lvl1pPr marL="0" indent="0">
              <a:buNone/>
              <a:defRPr sz="3200">
                <a:solidFill>
                  <a:schemeClr val="tx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2486F6-AE67-4B34-B8E2-0B7576DC2E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433544" y="3649682"/>
            <a:ext cx="3243292" cy="1684317"/>
          </a:xfrm>
        </p:spPr>
        <p:txBody>
          <a:bodyPr/>
          <a:lstStyle>
            <a:lvl1pPr marL="0" indent="0" algn="r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98B11C-BB63-49A6-B488-29D4FBF8E1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4B3CEF-64EF-4C43-9530-8E9CBFD2CAD1}" type="datetimeFigureOut">
              <a:rPr lang="en-US" dirty="0"/>
              <a:t>3/5/2026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4B9166-6D36-4F0A-9ADD-33D49A0C3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B22B8F-7760-41B3-9053-DD90255B9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61CA-0502-4EE4-9724-96EA822543E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5570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C8A5DE-E5C6-4DB9-AD28-8F1EAC6F55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63E08E-9B2D-4740-9AC6-D5E1CFB95F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429566" y="2229957"/>
            <a:ext cx="9238434" cy="3866043"/>
          </a:xfrm>
        </p:spPr>
        <p:txBody>
          <a:bodyPr vert="eaVert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4E3736-E8AA-4F58-9D3A-27050B287F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F5BA7-0A17-4D30-9B66-E29324151C73}" type="datetimeFigureOut">
              <a:rPr lang="en-US" dirty="0"/>
              <a:t>3/5/2026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E95E84-15BC-478B-9DAB-15025867B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E9D98F-E0A8-4254-A957-7F17811D0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61CA-0502-4EE4-9724-96EA822543E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03201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7DE70F5-2276-4F91-9FC2-8DA4B52881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144000" y="1467699"/>
            <a:ext cx="1758461" cy="4628301"/>
          </a:xfrm>
        </p:spPr>
        <p:txBody>
          <a:bodyPr vert="eaVert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1856C5-C2FD-45E4-A631-AC06B5495B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182312" y="1467699"/>
            <a:ext cx="7839379" cy="4628301"/>
          </a:xfrm>
        </p:spPr>
        <p:txBody>
          <a:bodyPr vert="eaVert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E336EA-B6DD-4115-9C67-79A24C866E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BEBB1B-D40A-4DB9-B3DE-BAAE675B83CD}" type="datetimeFigureOut">
              <a:rPr lang="en-US" dirty="0"/>
              <a:t>3/5/2026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EA668B-1DAB-449C-9BA4-7B1572A22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C6567E-119D-4C98-93FF-73A332803A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61CA-0502-4EE4-9724-96EA822543E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95134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84152A-7FE0-4708-B7C1-DBEC8F1337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29566" y="1041621"/>
            <a:ext cx="9238434" cy="86138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11AB53-BAF9-439D-9451-47193CF2FF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29566" y="2285999"/>
            <a:ext cx="9238434" cy="38100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B96D9F-562A-496F-A530-A561994DC5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471087" y="4891318"/>
            <a:ext cx="26732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00" b="1" cap="all" spc="300" baseline="0">
                <a:solidFill>
                  <a:schemeClr val="tx1"/>
                </a:solidFill>
              </a:defRPr>
            </a:lvl1pPr>
          </a:lstStyle>
          <a:p>
            <a:fld id="{B70A3DFD-A535-46B2-84C1-61DC8B16A904}" type="datetimeFigureOut">
              <a:rPr lang="en-US" dirty="0"/>
              <a:t>3/5/2026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3060FE-AAC3-4FAE-9EB4-BCAE72D956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473021" y="1609893"/>
            <a:ext cx="26694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00" b="1" cap="all" spc="3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77EDB2-8F31-42FA-B253-62D2414663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2908" y="3219853"/>
            <a:ext cx="629653" cy="42983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 b="1">
                <a:solidFill>
                  <a:schemeClr val="tx1">
                    <a:tint val="75000"/>
                  </a:schemeClr>
                </a:solidFill>
                <a:latin typeface="+mj-lt"/>
              </a:defRPr>
            </a:lvl1pPr>
          </a:lstStyle>
          <a:p>
            <a:fld id="{196A61CA-0502-4EE4-9724-96EA822543E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207824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/>
  <p:txStyles>
    <p:titleStyle>
      <a:lvl1pPr algn="l" defTabSz="914400" rtl="0" eaLnBrk="1" latinLnBrk="0" hangingPunct="1">
        <a:lnSpc>
          <a:spcPct val="120000"/>
        </a:lnSpc>
        <a:spcBef>
          <a:spcPct val="0"/>
        </a:spcBef>
        <a:buNone/>
        <a:defRPr sz="2800" b="1" kern="1200" cap="all" spc="6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4320" indent="-274320" algn="l" defTabSz="914400" rtl="0" eaLnBrk="1" latinLnBrk="0" hangingPunct="1">
        <a:lnSpc>
          <a:spcPct val="130000"/>
        </a:lnSpc>
        <a:spcBef>
          <a:spcPts val="1000"/>
        </a:spcBef>
        <a:buSzPct val="8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274320" indent="0" algn="l" defTabSz="914400" rtl="0" eaLnBrk="1" latinLnBrk="0" hangingPunct="1">
        <a:lnSpc>
          <a:spcPct val="130000"/>
        </a:lnSpc>
        <a:spcBef>
          <a:spcPts val="500"/>
        </a:spcBef>
        <a:buSzPct val="85000"/>
        <a:buFontTx/>
        <a:buNone/>
        <a:defRPr sz="16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-182880" algn="l" defTabSz="914400" rtl="0" eaLnBrk="1" latinLnBrk="0" hangingPunct="1">
        <a:lnSpc>
          <a:spcPct val="130000"/>
        </a:lnSpc>
        <a:spcBef>
          <a:spcPts val="500"/>
        </a:spcBef>
        <a:buSzPct val="8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466344" indent="0" algn="l" defTabSz="914400" rtl="0" eaLnBrk="1" latinLnBrk="0" hangingPunct="1">
        <a:lnSpc>
          <a:spcPct val="130000"/>
        </a:lnSpc>
        <a:spcBef>
          <a:spcPts val="500"/>
        </a:spcBef>
        <a:buSzPct val="85000"/>
        <a:buFontTx/>
        <a:buNone/>
        <a:defRPr sz="1200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640080" indent="-182880" algn="l" defTabSz="914400" rtl="0" eaLnBrk="1" latinLnBrk="0" hangingPunct="1">
        <a:lnSpc>
          <a:spcPct val="130000"/>
        </a:lnSpc>
        <a:spcBef>
          <a:spcPts val="500"/>
        </a:spcBef>
        <a:buSzPct val="85000"/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80">
          <p15:clr>
            <a:srgbClr val="F26B43"/>
          </p15:clr>
        </p15:guide>
        <p15:guide id="2" pos="3840">
          <p15:clr>
            <a:srgbClr val="F26B43"/>
          </p15:clr>
        </p15:guide>
        <p15:guide id="3" pos="7200">
          <p15:clr>
            <a:srgbClr val="F26B43"/>
          </p15:clr>
        </p15:guide>
        <p15:guide id="4" pos="6720">
          <p15:clr>
            <a:srgbClr val="F26B43"/>
          </p15:clr>
        </p15:guide>
        <p15:guide id="16" pos="480">
          <p15:clr>
            <a:srgbClr val="F26B43"/>
          </p15:clr>
        </p15:guide>
        <p15:guide id="23" orient="horz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hu-HU">
                <a:ea typeface="+mj-lt"/>
                <a:cs typeface="+mj-lt"/>
              </a:rPr>
              <a:t>Interaktív jelszóerősség-ellenőrző fejlesztése Android alkalmazásban</a:t>
            </a:r>
            <a:endParaRPr lang="hu-HU"/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u-HU" b="1">
                <a:ea typeface="+mn-lt"/>
                <a:cs typeface="+mn-lt"/>
              </a:rPr>
              <a:t>Prezentálók:</a:t>
            </a:r>
            <a:r>
              <a:rPr lang="hu-HU">
                <a:ea typeface="+mn-lt"/>
                <a:cs typeface="+mn-lt"/>
              </a:rPr>
              <a:t> Kadlicskó Boldizsár,Bogdán Norbert</a:t>
            </a:r>
          </a:p>
        </p:txBody>
      </p:sp>
    </p:spTree>
    <p:extLst>
      <p:ext uri="{BB962C8B-B14F-4D97-AF65-F5344CB8AC3E}">
        <p14:creationId xmlns:p14="http://schemas.microsoft.com/office/powerpoint/2010/main" val="42667484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92B3363-4F08-12FE-A68D-FFA768806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0">
                <a:ea typeface="+mj-lt"/>
                <a:cs typeface="+mj-lt"/>
              </a:rPr>
              <a:t>Miért vagy te is célpont?</a:t>
            </a:r>
            <a:endParaRPr lang="hu-HU">
              <a:ea typeface="+mj-lt"/>
              <a:cs typeface="+mj-lt"/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6F03DD4-3643-EF60-3EAC-9CFF90709E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u-HU" b="1">
                <a:ea typeface="+mn-lt"/>
                <a:cs typeface="+mn-lt"/>
              </a:rPr>
              <a:t>Tévhit:</a:t>
            </a:r>
            <a:r>
              <a:rPr lang="hu-HU">
                <a:ea typeface="+mn-lt"/>
                <a:cs typeface="+mn-lt"/>
              </a:rPr>
              <a:t> „Kicsi vagyok, nincs pénzem, nem érdeklem a hackereket.”</a:t>
            </a:r>
            <a:endParaRPr lang="hu-HU" dirty="0">
              <a:ea typeface="+mn-lt"/>
              <a:cs typeface="+mn-lt"/>
            </a:endParaRPr>
          </a:p>
          <a:p>
            <a:r>
              <a:rPr lang="hu-HU" b="1">
                <a:ea typeface="+mn-lt"/>
                <a:cs typeface="+mn-lt"/>
              </a:rPr>
              <a:t>Valóság:</a:t>
            </a:r>
            <a:r>
              <a:rPr lang="hu-HU">
                <a:ea typeface="+mn-lt"/>
                <a:cs typeface="+mn-lt"/>
              </a:rPr>
              <a:t> A robotprogramok nem válogatnak. Kell nekik a Discordod, az Instagramod vagy az e-mail címed, hogy onnan verjenek át másokat.</a:t>
            </a:r>
            <a:endParaRPr lang="hu-HU"/>
          </a:p>
          <a:p>
            <a:r>
              <a:rPr lang="hu-HU" b="1">
                <a:ea typeface="+mn-lt"/>
                <a:cs typeface="+mn-lt"/>
              </a:rPr>
              <a:t>Statisztika:</a:t>
            </a:r>
            <a:r>
              <a:rPr lang="hu-HU">
                <a:ea typeface="+mn-lt"/>
                <a:cs typeface="+mn-lt"/>
              </a:rPr>
              <a:t> A feltörések 80%-a a gyenge jelszavak miatt történik.</a:t>
            </a:r>
            <a:endParaRPr lang="hu-HU"/>
          </a:p>
          <a:p>
            <a:endParaRPr lang="hu-HU" dirty="0"/>
          </a:p>
          <a:p>
            <a:endParaRPr lang="hu-HU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4C93525-44DD-8DAE-B680-1ADE976A31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05DBD3-3016-4385-B904-7FEA02A28FE4}" type="datetime1">
              <a:t>2026. 03. 05.</a:t>
            </a:fld>
            <a:endParaRPr lang="en-US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759EE25-44EE-83E8-8B03-2E001A730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1D97F03-C5BD-67F3-A846-6BFA8A6A1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61CA-0502-4EE4-9724-96EA822543E5}" type="slidenum">
              <a:rPr lang="en-US" dirty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117115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prestige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29BF7F0-7655-5C65-E4D1-171A6CC68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0">
                <a:ea typeface="+mj-lt"/>
                <a:cs typeface="+mj-lt"/>
              </a:rPr>
              <a:t>Mi az a „Brute Force” támadás?</a:t>
            </a:r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13374CC-1C04-62CF-5150-1A0229D748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u-HU">
                <a:ea typeface="+mn-lt"/>
                <a:cs typeface="+mn-lt"/>
              </a:rPr>
              <a:t>Ez az, amit az appunkkal meg akarunk akadályozni.</a:t>
            </a:r>
            <a:endParaRPr lang="hu-HU">
              <a:latin typeface="Trade Gothic Next Light"/>
              <a:ea typeface="+mn-lt"/>
              <a:cs typeface="+mn-lt"/>
            </a:endParaRPr>
          </a:p>
          <a:p>
            <a:r>
              <a:rPr lang="hu-HU" b="1">
                <a:ea typeface="+mn-lt"/>
                <a:cs typeface="+mn-lt"/>
              </a:rPr>
              <a:t>Hogyan működik?</a:t>
            </a:r>
            <a:r>
              <a:rPr lang="hu-HU">
                <a:ea typeface="+mn-lt"/>
                <a:cs typeface="+mn-lt"/>
              </a:rPr>
              <a:t> A hacker gépe másodpercenként több millió jelszót próbál ki (mint egy széfnyitó robot).</a:t>
            </a:r>
            <a:endParaRPr lang="hu-HU"/>
          </a:p>
          <a:p>
            <a:r>
              <a:rPr lang="hu-HU" b="1">
                <a:ea typeface="+mn-lt"/>
                <a:cs typeface="+mn-lt"/>
              </a:rPr>
              <a:t>Időfaktor:</a:t>
            </a:r>
            <a:r>
              <a:rPr lang="hu-HU">
                <a:ea typeface="+mn-lt"/>
                <a:cs typeface="+mn-lt"/>
              </a:rPr>
              <a:t> Egy 6 betűs jelszót (pl. „majom”) 1 másodperc alatt feltörnek. Egy 12 karakteres, vegyes jelszóhoz már évszázadok kellenek.</a:t>
            </a:r>
            <a:endParaRPr lang="hu-HU"/>
          </a:p>
          <a:p>
            <a:endParaRPr lang="hu-HU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1C9741E-8738-7294-2910-E997611849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C16FC4-7685-4F31-95A8-7080F6163159}" type="datetime1">
              <a:t>2026. 03. 05.</a:t>
            </a:fld>
            <a:endParaRPr lang="en-US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C03DE414-E955-45EB-066C-4F7365F5B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1F6EDF3-87EC-026B-34CD-A2EE38130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61CA-0502-4EE4-9724-96EA822543E5}" type="slidenum">
              <a:rPr lang="en-US" dirty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623029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airplane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82B788A-D623-7439-A5AD-E8061AAFD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A mi megoldásunk: Az interaktív ellenőrző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E814AB2-A41D-B88A-22F3-2CAFD00127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u-HU" b="1">
                <a:ea typeface="+mn-lt"/>
                <a:cs typeface="+mn-lt"/>
              </a:rPr>
              <a:t>Bemutatás:</a:t>
            </a:r>
            <a:r>
              <a:rPr lang="hu-HU">
                <a:ea typeface="+mn-lt"/>
                <a:cs typeface="+mn-lt"/>
              </a:rPr>
              <a:t> Készítettünk egy Android alkalmazást, ami segít megtanulni a biztonságos jelszó építését.</a:t>
            </a:r>
          </a:p>
          <a:p>
            <a:r>
              <a:rPr lang="hu-HU" b="1">
                <a:ea typeface="+mn-lt"/>
                <a:cs typeface="+mn-lt"/>
              </a:rPr>
              <a:t>Élő figyelem:</a:t>
            </a:r>
            <a:r>
              <a:rPr lang="hu-HU">
                <a:ea typeface="+mn-lt"/>
                <a:cs typeface="+mn-lt"/>
              </a:rPr>
              <a:t> Nem kell gombot nyomni, az app gépelés közben, valós időben elemzi, amit beírsz.</a:t>
            </a:r>
            <a:endParaRPr lang="hu-HU"/>
          </a:p>
          <a:p>
            <a:r>
              <a:rPr lang="hu-HU" b="1">
                <a:ea typeface="+mn-lt"/>
                <a:cs typeface="+mn-lt"/>
              </a:rPr>
              <a:t>Azonnali visszacsatolás:</a:t>
            </a:r>
            <a:r>
              <a:rPr lang="hu-HU">
                <a:ea typeface="+mn-lt"/>
                <a:cs typeface="+mn-lt"/>
              </a:rPr>
              <a:t> Látod a fejlődést, ahogy a jelszavad egyre erősebb lesz.</a:t>
            </a:r>
          </a:p>
          <a:p>
            <a:endParaRPr lang="hu-HU" b="1" dirty="0"/>
          </a:p>
          <a:p>
            <a:endParaRPr lang="hu-HU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0DFBFF7-95D3-343B-B071-CA3BB4B5D7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072EA-AD5F-4694-A93A-A0867BCB5B75}" type="datetime1">
              <a:t>2026. 03. 05.</a:t>
            </a:fld>
            <a:endParaRPr lang="en-US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FDDFB5C-3F81-D6C0-3363-0657164AF9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F2DA3F5-5A16-BE10-11D4-E905DD3478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61CA-0502-4EE4-9724-96EA822543E5}" type="slidenum">
              <a:rPr lang="en-US" dirty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5464152"/>
      </p:ext>
    </p:extLst>
  </p:cSld>
  <p:clrMapOvr>
    <a:masterClrMapping/>
  </p:clrMapOvr>
  <p:transition spd="slow">
    <p:wheel spokes="1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2FC0372-ED96-F7D2-0C2B-9AF0656A3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0">
                <a:ea typeface="+mj-lt"/>
                <a:cs typeface="+mj-lt"/>
              </a:rPr>
              <a:t>A színek nyelve – Mit üzen a rendszer?</a:t>
            </a:r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310C6F1-DFFA-5D84-7611-24CB4A3793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u-HU" b="1">
                <a:ea typeface="+mn-lt"/>
                <a:cs typeface="+mn-lt"/>
              </a:rPr>
              <a:t>Vizuális jelzések:</a:t>
            </a:r>
            <a:r>
              <a:rPr lang="hu-HU">
                <a:ea typeface="+mn-lt"/>
                <a:cs typeface="+mn-lt"/>
              </a:rPr>
              <a:t> A legtöbb modern oldalon regisztrációkor látsz egy csíkot a jelszó alatt. Tanulj meg olvasni belőle!</a:t>
            </a:r>
          </a:p>
          <a:p>
            <a:r>
              <a:rPr lang="hu-HU">
                <a:ea typeface="+mn-lt"/>
                <a:cs typeface="+mn-lt"/>
              </a:rPr>
              <a:t>🔴 </a:t>
            </a:r>
            <a:r>
              <a:rPr lang="hu-HU" b="1">
                <a:ea typeface="+mn-lt"/>
                <a:cs typeface="+mn-lt"/>
              </a:rPr>
              <a:t>Piros (Veszély):</a:t>
            </a:r>
            <a:r>
              <a:rPr lang="hu-HU">
                <a:ea typeface="+mn-lt"/>
                <a:cs typeface="+mn-lt"/>
              </a:rPr>
              <a:t> Ez nem jelszó, csak egy szó. A hackereknek ez „ingyen belépő”. (Pl.: </a:t>
            </a:r>
            <a:r>
              <a:rPr lang="hu-HU">
                <a:latin typeface="Consolas"/>
                <a:ea typeface="+mn-lt"/>
                <a:cs typeface="+mn-lt"/>
              </a:rPr>
              <a:t>jelszo123</a:t>
            </a:r>
            <a:r>
              <a:rPr lang="hu-HU">
                <a:ea typeface="+mn-lt"/>
                <a:cs typeface="+mn-lt"/>
              </a:rPr>
              <a:t>, </a:t>
            </a:r>
            <a:r>
              <a:rPr lang="hu-HU">
                <a:latin typeface="Consolas"/>
                <a:ea typeface="+mn-lt"/>
                <a:cs typeface="+mn-lt"/>
              </a:rPr>
              <a:t>nagymama</a:t>
            </a:r>
            <a:r>
              <a:rPr lang="hu-HU">
                <a:ea typeface="+mn-lt"/>
                <a:cs typeface="+mn-lt"/>
              </a:rPr>
              <a:t>)</a:t>
            </a:r>
            <a:endParaRPr lang="hu-HU"/>
          </a:p>
          <a:p>
            <a:r>
              <a:rPr lang="hu-HU">
                <a:ea typeface="+mn-lt"/>
                <a:cs typeface="+mn-lt"/>
              </a:rPr>
              <a:t>🟡 </a:t>
            </a:r>
            <a:r>
              <a:rPr lang="hu-HU" b="1">
                <a:ea typeface="+mn-lt"/>
                <a:cs typeface="+mn-lt"/>
              </a:rPr>
              <a:t>Sárga/Narancs (Kockázatos):</a:t>
            </a:r>
            <a:r>
              <a:rPr lang="hu-HU">
                <a:ea typeface="+mn-lt"/>
                <a:cs typeface="+mn-lt"/>
              </a:rPr>
              <a:t> Már van benne egy nagybetű vagy egy szám, de a hossza még kevés. Egy közepes erősségű gép pár óra alatt megfejti.</a:t>
            </a:r>
          </a:p>
          <a:p>
            <a:r>
              <a:rPr lang="hu-HU">
                <a:ea typeface="+mn-lt"/>
                <a:cs typeface="+mn-lt"/>
              </a:rPr>
              <a:t>🟢 </a:t>
            </a:r>
            <a:r>
              <a:rPr lang="hu-HU" b="1">
                <a:ea typeface="+mn-lt"/>
                <a:cs typeface="+mn-lt"/>
              </a:rPr>
              <a:t>Zöld (Biztonság):</a:t>
            </a:r>
            <a:r>
              <a:rPr lang="hu-HU">
                <a:ea typeface="+mn-lt"/>
                <a:cs typeface="+mn-lt"/>
              </a:rPr>
              <a:t> Ez a cél! Hosszú, kusza, és tartalmaz jeleket. Ez az, ami megállítja a feltörő szoftvereket.</a:t>
            </a:r>
            <a:endParaRPr lang="hu-HU"/>
          </a:p>
          <a:p>
            <a:pPr marL="0" indent="0">
              <a:buNone/>
            </a:pPr>
            <a:endParaRPr lang="hu-HU" i="1" dirty="0">
              <a:ea typeface="+mn-lt"/>
              <a:cs typeface="+mn-lt"/>
            </a:endParaRPr>
          </a:p>
          <a:p>
            <a:endParaRPr lang="hu-HU" b="1" dirty="0"/>
          </a:p>
          <a:p>
            <a:endParaRPr lang="hu-HU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75CC080-6E13-40A2-0AE7-AF7D8CE0F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CD7E4C-D8BA-47AE-A056-D587E1D3B2C8}" type="datetime1">
              <a:t>2026. 03. 05.</a:t>
            </a:fld>
            <a:endParaRPr lang="en-US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1CDA1CA-45BE-D253-B5E8-9737BC587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ABCBF5D-61E6-14EC-005F-49780DC81B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61CA-0502-4EE4-9724-96EA822543E5}" type="slidenum">
              <a:rPr lang="en-US" dirty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9661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ipple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45857A6-315D-066E-70D7-54616EC08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z="1800">
                <a:latin typeface="Trade Gothic Next Light"/>
                <a:ea typeface="+mj-lt"/>
                <a:cs typeface="+mj-lt"/>
              </a:rPr>
              <a:t>Miért kérik kétszer? (Confirm Password)</a:t>
            </a:r>
            <a:endParaRPr lang="hu-HU" sz="1800" b="0">
              <a:solidFill>
                <a:srgbClr val="000000"/>
              </a:solidFill>
              <a:latin typeface="Trade Gothic Next Light"/>
              <a:ea typeface="+mj-lt"/>
              <a:cs typeface="+mj-lt"/>
            </a:endParaRPr>
          </a:p>
          <a:p>
            <a:endParaRPr lang="hu-HU" b="0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B422316-D37A-48B6-B241-4F46B0FCC4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u-HU" b="1">
                <a:ea typeface="+mn-lt"/>
                <a:cs typeface="+mn-lt"/>
              </a:rPr>
              <a:t>A "Confirm" mező nem szivatás:</a:t>
            </a:r>
            <a:r>
              <a:rPr lang="hu-HU">
                <a:ea typeface="+mn-lt"/>
                <a:cs typeface="+mn-lt"/>
              </a:rPr>
              <a:t> Nem azért kell kétszer beírni, hogy idegesítsenek, hanem hogy megvédjenek a saját sietségedtől.</a:t>
            </a:r>
            <a:endParaRPr lang="hu-HU" dirty="0">
              <a:ea typeface="+mn-lt"/>
              <a:cs typeface="+mn-lt"/>
            </a:endParaRPr>
          </a:p>
          <a:p>
            <a:r>
              <a:rPr lang="hu-HU" b="1">
                <a:ea typeface="+mn-lt"/>
                <a:cs typeface="+mn-lt"/>
              </a:rPr>
              <a:t>Hogyan csináld okosan?</a:t>
            </a:r>
            <a:r>
              <a:rPr lang="hu-HU">
                <a:ea typeface="+mn-lt"/>
                <a:cs typeface="+mn-lt"/>
              </a:rPr>
              <a:t> * Ne másold át (Copy-Paste)!</a:t>
            </a:r>
          </a:p>
          <a:p>
            <a:r>
              <a:rPr lang="hu-HU"/>
              <a:t>Mindig gépeld be másodszorra is, hogy biztos legyél benne: az ujjaid azt írták, amit az agyad akart.</a:t>
            </a:r>
            <a:endParaRPr lang="hu-HU" dirty="0"/>
          </a:p>
          <a:p>
            <a:endParaRPr lang="hu-HU" b="1" dirty="0">
              <a:ea typeface="+mn-lt"/>
              <a:cs typeface="+mn-lt"/>
            </a:endParaRPr>
          </a:p>
          <a:p>
            <a:endParaRPr lang="hu-HU" dirty="0">
              <a:ea typeface="+mn-lt"/>
              <a:cs typeface="+mn-lt"/>
            </a:endParaRPr>
          </a:p>
          <a:p>
            <a:endParaRPr lang="hu-HU" b="1" dirty="0"/>
          </a:p>
          <a:p>
            <a:endParaRPr lang="hu-HU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F358A00-EFFD-61B4-7F7D-E5142297A8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ED717-A70F-4EF6-A9B4-2463244C6110}" type="datetime1">
              <a:t>2026. 03. 05.</a:t>
            </a:fld>
            <a:endParaRPr lang="en-US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B16511C8-1B47-C8EC-D2B0-9766BEE46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EED9C608-44AF-535F-FD61-7C6767C881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61CA-0502-4EE4-9724-96EA822543E5}" type="slidenum">
              <a:rPr lang="en-US" dirty="0"/>
              <a:t>6</a:t>
            </a:fld>
            <a:endParaRPr lang="en-US" dirty="0"/>
          </a:p>
        </p:txBody>
      </p:sp>
      <p:pic>
        <p:nvPicPr>
          <p:cNvPr id="8" name="Kép 7" descr="A képen kard, fém látható&#10;&#10;Lehet, hogy az AI által létrehozott tartalom helytelen.">
            <a:extLst>
              <a:ext uri="{FF2B5EF4-FFF2-40B4-BE49-F238E27FC236}">
                <a16:creationId xmlns:a16="http://schemas.microsoft.com/office/drawing/2014/main" id="{2DA85D40-BFF4-72AC-8B52-16B48D8FE4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8490" y="2858"/>
            <a:ext cx="2684780" cy="2361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09163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EFB6990-D305-603F-8811-CE7F44671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0">
                <a:ea typeface="+mj-lt"/>
                <a:cs typeface="+mj-lt"/>
              </a:rPr>
              <a:t>A „Tökéletes Jelszó” receptje</a:t>
            </a:r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A1734ED-CA5E-7818-DA0E-B726B5F54F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u-HU" b="1">
                <a:ea typeface="+mn-lt"/>
                <a:cs typeface="+mn-lt"/>
              </a:rPr>
              <a:t>Hossz:</a:t>
            </a:r>
            <a:r>
              <a:rPr lang="hu-HU">
                <a:ea typeface="+mn-lt"/>
                <a:cs typeface="+mn-lt"/>
              </a:rPr>
              <a:t> Minimum 12 karakter.</a:t>
            </a:r>
            <a:endParaRPr lang="hu-HU"/>
          </a:p>
          <a:p>
            <a:r>
              <a:rPr lang="hu-HU" b="1">
                <a:ea typeface="+mn-lt"/>
                <a:cs typeface="+mn-lt"/>
              </a:rPr>
              <a:t>Keverés:</a:t>
            </a:r>
            <a:r>
              <a:rPr lang="hu-HU">
                <a:ea typeface="+mn-lt"/>
                <a:cs typeface="+mn-lt"/>
              </a:rPr>
              <a:t> Használj kis- és nagybetűt, számot és egy különleges jelet (pl. </a:t>
            </a:r>
            <a:r>
              <a:rPr lang="hu-HU">
                <a:latin typeface="Consolas"/>
                <a:ea typeface="+mn-lt"/>
                <a:cs typeface="+mn-lt"/>
              </a:rPr>
              <a:t>_</a:t>
            </a:r>
            <a:r>
              <a:rPr lang="hu-HU">
                <a:ea typeface="+mn-lt"/>
                <a:cs typeface="+mn-lt"/>
              </a:rPr>
              <a:t>, </a:t>
            </a:r>
            <a:r>
              <a:rPr lang="hu-HU">
                <a:latin typeface="Consolas"/>
                <a:ea typeface="+mn-lt"/>
                <a:cs typeface="+mn-lt"/>
              </a:rPr>
              <a:t>!</a:t>
            </a:r>
            <a:r>
              <a:rPr lang="hu-HU">
                <a:ea typeface="+mn-lt"/>
                <a:cs typeface="+mn-lt"/>
              </a:rPr>
              <a:t>, </a:t>
            </a:r>
            <a:r>
              <a:rPr lang="hu-HU">
                <a:latin typeface="Consolas"/>
                <a:ea typeface="+mn-lt"/>
                <a:cs typeface="+mn-lt"/>
              </a:rPr>
              <a:t>?</a:t>
            </a:r>
            <a:r>
              <a:rPr lang="hu-HU">
                <a:ea typeface="+mn-lt"/>
                <a:cs typeface="+mn-lt"/>
              </a:rPr>
              <a:t>).</a:t>
            </a:r>
            <a:endParaRPr lang="hu-HU"/>
          </a:p>
          <a:p>
            <a:r>
              <a:rPr lang="hu-HU" b="1">
                <a:ea typeface="+mn-lt"/>
                <a:cs typeface="+mn-lt"/>
              </a:rPr>
              <a:t>Logika:</a:t>
            </a:r>
            <a:r>
              <a:rPr lang="hu-HU">
                <a:ea typeface="+mn-lt"/>
                <a:cs typeface="+mn-lt"/>
              </a:rPr>
              <a:t> Ne használj neveket, dátumokat vagy olyan szavakat, amik szerepelnek a szótárban.</a:t>
            </a:r>
            <a:endParaRPr lang="hu-HU"/>
          </a:p>
          <a:p>
            <a:r>
              <a:rPr lang="hu-HU" b="1">
                <a:ea typeface="+mn-lt"/>
                <a:cs typeface="+mn-lt"/>
              </a:rPr>
              <a:t>Tipp:</a:t>
            </a:r>
            <a:r>
              <a:rPr lang="hu-HU">
                <a:ea typeface="+mn-lt"/>
                <a:cs typeface="+mn-lt"/>
              </a:rPr>
              <a:t> Használj „jelmondatokat”! (Pl. </a:t>
            </a:r>
            <a:r>
              <a:rPr lang="hu-HU" i="1">
                <a:ea typeface="+mn-lt"/>
                <a:cs typeface="+mn-lt"/>
              </a:rPr>
              <a:t>Kicsi_Kutya-Eszik_26!</a:t>
            </a:r>
            <a:r>
              <a:rPr lang="hu-HU">
                <a:ea typeface="+mn-lt"/>
                <a:cs typeface="+mn-lt"/>
              </a:rPr>
              <a:t>) – könnyebb megjegyezni, mégis brutálisan erős.</a:t>
            </a:r>
          </a:p>
          <a:p>
            <a:endParaRPr lang="hu-HU" b="1" dirty="0"/>
          </a:p>
          <a:p>
            <a:endParaRPr lang="hu-HU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13368FC-7635-4F41-F271-C3EECAE615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36FDD-A6DE-45F9-A548-4842FFF743E1}" type="datetime1">
              <a:t>2026. 03. 05.</a:t>
            </a:fld>
            <a:endParaRPr lang="en-US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E6B74E7-759D-16D4-337F-36A38078E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876C646-EC33-526A-4917-F2FBCDA068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61CA-0502-4EE4-9724-96EA822543E5}" type="slidenum">
              <a:rPr lang="en-US" dirty="0"/>
              <a:t>7</a:t>
            </a:fld>
            <a:endParaRPr lang="en-US" dirty="0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014B35E6-03FC-5B3D-0605-F10121843A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0840" y="0"/>
            <a:ext cx="2936240" cy="2936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3931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doors dir="ver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9A1B421-94E7-22F5-C8BF-C63070707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0">
                <a:ea typeface="+mj-lt"/>
                <a:cs typeface="+mj-lt"/>
              </a:rPr>
              <a:t>Hol tárold őket? (Jelszókezelők)</a:t>
            </a:r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E661E14-328E-39FA-2187-2817B47D94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u-HU">
                <a:ea typeface="+mn-lt"/>
                <a:cs typeface="+mn-lt"/>
              </a:rPr>
              <a:t>Mivel mindenhol más jelszó kell, emberileg lehetetlen mindet megjegyezni.</a:t>
            </a:r>
            <a:endParaRPr lang="hu-HU"/>
          </a:p>
          <a:p>
            <a:r>
              <a:rPr lang="hu-HU" b="1">
                <a:ea typeface="+mn-lt"/>
                <a:cs typeface="+mn-lt"/>
              </a:rPr>
              <a:t>Ajánlott appok:</a:t>
            </a:r>
            <a:endParaRPr lang="hu-HU">
              <a:ea typeface="+mn-lt"/>
              <a:cs typeface="+mn-lt"/>
            </a:endParaRPr>
          </a:p>
          <a:p>
            <a:r>
              <a:rPr lang="hu-HU" b="1">
                <a:ea typeface="+mn-lt"/>
                <a:cs typeface="+mn-lt"/>
              </a:rPr>
              <a:t>Bitwarden:</a:t>
            </a:r>
            <a:r>
              <a:rPr lang="hu-HU">
                <a:ea typeface="+mn-lt"/>
                <a:cs typeface="+mn-lt"/>
              </a:rPr>
              <a:t> Ingyenes, nyílt forráskódú.</a:t>
            </a:r>
          </a:p>
          <a:p>
            <a:r>
              <a:rPr lang="hu-HU" b="1">
                <a:ea typeface="+mn-lt"/>
                <a:cs typeface="+mn-lt"/>
              </a:rPr>
              <a:t>Proton Pass:</a:t>
            </a:r>
            <a:r>
              <a:rPr lang="hu-HU">
                <a:ea typeface="+mn-lt"/>
                <a:cs typeface="+mn-lt"/>
              </a:rPr>
              <a:t> Modern, magyarul is tud.</a:t>
            </a:r>
          </a:p>
          <a:p>
            <a:r>
              <a:rPr lang="hu-HU" b="1">
                <a:ea typeface="+mn-lt"/>
                <a:cs typeface="+mn-lt"/>
              </a:rPr>
              <a:t>1Password:</a:t>
            </a:r>
            <a:r>
              <a:rPr lang="hu-HU">
                <a:ea typeface="+mn-lt"/>
                <a:cs typeface="+mn-lt"/>
              </a:rPr>
              <a:t> A legkényelmesebb fizetős megoldás.</a:t>
            </a:r>
          </a:p>
          <a:p>
            <a:r>
              <a:rPr lang="hu-HU" b="1">
                <a:ea typeface="+mn-lt"/>
                <a:cs typeface="+mn-lt"/>
              </a:rPr>
              <a:t>Mesterjelszó:</a:t>
            </a:r>
            <a:r>
              <a:rPr lang="hu-HU">
                <a:ea typeface="+mn-lt"/>
                <a:cs typeface="+mn-lt"/>
              </a:rPr>
              <a:t> Csak EGYETLEN nagyon erős jelszót kell tudnod fejből, az app vigyáz a többire.</a:t>
            </a:r>
          </a:p>
          <a:p>
            <a:endParaRPr lang="hu-HU" b="1" dirty="0"/>
          </a:p>
          <a:p>
            <a:endParaRPr lang="hu-HU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E073C18-E902-156D-AEEF-1C0D497014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83636E-BEBF-468D-BF71-9E60497FB5A8}" type="datetime1">
              <a:t>2026. 03. 05.</a:t>
            </a:fld>
            <a:endParaRPr lang="en-US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7D43175-FF6C-D0BA-08DD-4760040430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45959F8-9B1B-533B-E766-84B44193D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61CA-0502-4EE4-9724-96EA822543E5}" type="slidenum">
              <a:rPr lang="en-US" dirty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15710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dissolve/>
      </p:transition>
    </mc:Choice>
    <mc:Fallback xmlns="">
      <p:transition spd="slow">
        <p:dissolv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10081C0-FD12-76AF-C3F3-DF1C8B43CB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0">
                <a:ea typeface="+mj-lt"/>
                <a:cs typeface="+mj-lt"/>
              </a:rPr>
              <a:t>Összegzés és tanácsok</a:t>
            </a:r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D148DB6-3A74-49ED-E467-3CC8DACE6D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u-HU" b="1">
                <a:ea typeface="+mn-lt"/>
                <a:cs typeface="+mn-lt"/>
              </a:rPr>
              <a:t>Soha</a:t>
            </a:r>
            <a:r>
              <a:rPr lang="hu-HU">
                <a:ea typeface="+mn-lt"/>
                <a:cs typeface="+mn-lt"/>
              </a:rPr>
              <a:t> ne add meg a jelszavadat senkinek (még a Facebook-adminnak sem kérik el!).</a:t>
            </a:r>
            <a:endParaRPr lang="hu-HU"/>
          </a:p>
          <a:p>
            <a:r>
              <a:rPr lang="hu-HU" b="1">
                <a:ea typeface="+mn-lt"/>
                <a:cs typeface="+mn-lt"/>
              </a:rPr>
              <a:t>Használd</a:t>
            </a:r>
            <a:r>
              <a:rPr lang="hu-HU">
                <a:ea typeface="+mn-lt"/>
                <a:cs typeface="+mn-lt"/>
              </a:rPr>
              <a:t> az appunkat gyakorlásra!</a:t>
            </a:r>
            <a:endParaRPr lang="hu-HU"/>
          </a:p>
          <a:p>
            <a:r>
              <a:rPr lang="hu-HU" b="1">
                <a:ea typeface="+mn-lt"/>
                <a:cs typeface="+mn-lt"/>
              </a:rPr>
              <a:t>Frissíts:</a:t>
            </a:r>
            <a:r>
              <a:rPr lang="hu-HU">
                <a:ea typeface="+mn-lt"/>
                <a:cs typeface="+mn-lt"/>
              </a:rPr>
              <a:t> Ha gyanús e-mailt kapsz, változtass jelszót.</a:t>
            </a:r>
          </a:p>
          <a:p>
            <a:r>
              <a:rPr lang="hu-HU" b="1">
                <a:ea typeface="+mn-lt"/>
                <a:cs typeface="+mn-lt"/>
              </a:rPr>
              <a:t>Kérdések?</a:t>
            </a:r>
            <a:r>
              <a:rPr lang="hu-HU">
                <a:ea typeface="+mn-lt"/>
                <a:cs typeface="+mn-lt"/>
              </a:rPr>
              <a:t> Szívesen válaszolunk!</a:t>
            </a:r>
            <a:endParaRPr lang="hu-HU"/>
          </a:p>
          <a:p>
            <a:endParaRPr lang="hu-HU" dirty="0">
              <a:ea typeface="+mn-lt"/>
              <a:cs typeface="+mn-lt"/>
            </a:endParaRPr>
          </a:p>
          <a:p>
            <a:endParaRPr lang="hu-HU" b="1" dirty="0"/>
          </a:p>
          <a:p>
            <a:endParaRPr lang="hu-HU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CC5E434-A98A-2BA1-32BA-38B802D6B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FAA34E-26F8-4895-BA35-2C8B4CDA85CD}" type="datetime1">
              <a:t>2026. 03. 05.</a:t>
            </a:fld>
            <a:endParaRPr lang="en-US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C78FDAD-5FD7-6585-CC3D-FD626B6F00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4BA0A8B-43A1-70E8-2B6D-0F8F350BB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61CA-0502-4EE4-9724-96EA822543E5}" type="slidenum">
              <a:rPr lang="en-US" dirty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63074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7175849-FE18-008D-194A-8D6AB37AB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907DF6D-DCE3-FDF4-79E9-39425E3062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endParaRPr lang="hu-HU"/>
          </a:p>
          <a:p>
            <a:endParaRPr lang="hu-HU" b="0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14436753-73F2-4FAB-2262-7FBDD5A50E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7341BF-8616-4E70-8DDA-822E355C4481}" type="datetime1">
              <a:t>2026. 03. 05.</a:t>
            </a:fld>
            <a:endParaRPr lang="en-US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DC5CE4F2-1D40-47C4-9B8F-CD904B6B1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5FE5BAE1-31B3-8AA5-E728-5006EFE9C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61CA-0502-4EE4-9724-96EA822543E5}" type="slidenum">
              <a:rPr lang="en-US" dirty="0"/>
              <a:t>10</a:t>
            </a:fld>
            <a:endParaRPr lang="en-US" dirty="0"/>
          </a:p>
        </p:txBody>
      </p:sp>
      <p:pic>
        <p:nvPicPr>
          <p:cNvPr id="7" name="Kép 6" descr="A képen szöveg, poszter, Grafikus tervezés, rajzfilm látható&#10;&#10;Lehet, hogy az AI által létrehozott tartalom helytelen.">
            <a:extLst>
              <a:ext uri="{FF2B5EF4-FFF2-40B4-BE49-F238E27FC236}">
                <a16:creationId xmlns:a16="http://schemas.microsoft.com/office/drawing/2014/main" id="{2FA2AEC3-279E-23AD-899E-3958F93144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0655" y="713422"/>
            <a:ext cx="9645650" cy="5441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37285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/>
      </p:transition>
    </mc:Choice>
    <mc:Fallback xmlns="">
      <p:transition spd="slow">
        <p:checker/>
      </p:transition>
    </mc:Fallback>
  </mc:AlternateContent>
</p:sld>
</file>

<file path=ppt/theme/theme1.xml><?xml version="1.0" encoding="utf-8"?>
<a:theme xmlns:a="http://schemas.openxmlformats.org/drawingml/2006/main" name="PortalVTI">
  <a:themeElements>
    <a:clrScheme name="PortalVTI">
      <a:dk1>
        <a:sysClr val="windowText" lastClr="000000"/>
      </a:dk1>
      <a:lt1>
        <a:sysClr val="window" lastClr="FFFFFF"/>
      </a:lt1>
      <a:dk2>
        <a:srgbClr val="051618"/>
      </a:dk2>
      <a:lt2>
        <a:srgbClr val="E8E8DF"/>
      </a:lt2>
      <a:accent1>
        <a:srgbClr val="2D714C"/>
      </a:accent1>
      <a:accent2>
        <a:srgbClr val="1F7985"/>
      </a:accent2>
      <a:accent3>
        <a:srgbClr val="0D6756"/>
      </a:accent3>
      <a:accent4>
        <a:srgbClr val="40945E"/>
      </a:accent4>
      <a:accent5>
        <a:srgbClr val="389896"/>
      </a:accent5>
      <a:accent6>
        <a:srgbClr val="64924A"/>
      </a:accent6>
      <a:hlink>
        <a:srgbClr val="1F855C"/>
      </a:hlink>
      <a:folHlink>
        <a:srgbClr val="227390"/>
      </a:folHlink>
    </a:clrScheme>
    <a:fontScheme name="PortalVTI">
      <a:majorFont>
        <a:latin typeface="Trade Gothic Next Cond"/>
        <a:ea typeface=""/>
        <a:cs typeface=""/>
      </a:majorFont>
      <a:minorFont>
        <a:latin typeface="Trade Gothic Next Light"/>
        <a:ea typeface=""/>
        <a:cs typeface=""/>
      </a:minorFont>
    </a:fontScheme>
    <a:fmtScheme name="PortalVTI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ortalVTI" id="{E3A4BB4D-5227-4A6D-99D3-DBAB0FE4C68F}" vid="{BE515EFD-5A7A-4BFE-BE06-A21DB8499CD2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Szélesvásznú</PresentationFormat>
  <Paragraphs>0</Paragraphs>
  <Slides>10</Slides>
  <Notes>0</Notes>
  <HiddenSlides>0</HiddenSlides>
  <MMClips>0</MMClips>
  <ScaleCrop>false</ScaleCrop>
  <HeadingPairs>
    <vt:vector size="4" baseType="variant">
      <vt:variant>
        <vt:lpstr>Téma</vt:lpstr>
      </vt:variant>
      <vt:variant>
        <vt:i4>1</vt:i4>
      </vt:variant>
      <vt:variant>
        <vt:lpstr>Diacímek</vt:lpstr>
      </vt:variant>
      <vt:variant>
        <vt:i4>10</vt:i4>
      </vt:variant>
    </vt:vector>
  </HeadingPairs>
  <TitlesOfParts>
    <vt:vector size="11" baseType="lpstr">
      <vt:lpstr>PortalVTI</vt:lpstr>
      <vt:lpstr>Interaktív jelszóerősség-ellenőrző fejlesztése Android alkalmazásban</vt:lpstr>
      <vt:lpstr>Miért vagy te is célpont?</vt:lpstr>
      <vt:lpstr>Mi az a „Brute Force” támadás?</vt:lpstr>
      <vt:lpstr>A mi megoldásunk: Az interaktív ellenőrző</vt:lpstr>
      <vt:lpstr>A színek nyelve – Mit üzen a rendszer?</vt:lpstr>
      <vt:lpstr>Miért kérik kétszer? (Confirm Password) </vt:lpstr>
      <vt:lpstr>A „Tökéletes Jelszó” receptje</vt:lpstr>
      <vt:lpstr>Hol tárold őket? (Jelszókezelők)</vt:lpstr>
      <vt:lpstr>Összegzés és tanácsok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128</cp:revision>
  <dcterms:created xsi:type="dcterms:W3CDTF">2026-02-23T07:37:42Z</dcterms:created>
  <dcterms:modified xsi:type="dcterms:W3CDTF">2026-03-06T07:10:20Z</dcterms:modified>
</cp:coreProperties>
</file>